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88" r:id="rId1"/>
  </p:sldMasterIdLst>
  <p:sldIdLst>
    <p:sldId id="256" r:id="rId2"/>
    <p:sldId id="257" r:id="rId3"/>
  </p:sldIdLst>
  <p:sldSz cx="12192000" cy="6858000"/>
  <p:notesSz cx="6858000" cy="9144000"/>
  <p:defaultTextStyle>
    <a:defPPr>
      <a:defRPr lang="es-MX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985BE527-9D91-4982-B397-114912273BE0}" v="11" dt="2025-11-29T04:49:07.73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>
        <p:scale>
          <a:sx n="100" d="100"/>
          <a:sy n="100" d="100"/>
        </p:scale>
        <p:origin x="58" y="-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microsoft.com/office/2016/11/relationships/changesInfo" Target="changesInfos/changesInfo1.xml"/><Relationship Id="rId3" Type="http://schemas.openxmlformats.org/officeDocument/2006/relationships/slide" Target="slides/slide2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Relationship Id="rId9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Marco ATGG" userId="0dab998bfdd9aaf1" providerId="LiveId" clId="{ADFE3B65-EA15-4F96-B5C9-E12D043D8BD8}"/>
    <pc:docChg chg="undo custSel modSld">
      <pc:chgData name="Marco ATGG" userId="0dab998bfdd9aaf1" providerId="LiveId" clId="{ADFE3B65-EA15-4F96-B5C9-E12D043D8BD8}" dt="2025-11-29T20:58:14.216" v="243" actId="20577"/>
      <pc:docMkLst>
        <pc:docMk/>
      </pc:docMkLst>
      <pc:sldChg chg="addSp delSp modSp mod setBg">
        <pc:chgData name="Marco ATGG" userId="0dab998bfdd9aaf1" providerId="LiveId" clId="{ADFE3B65-EA15-4F96-B5C9-E12D043D8BD8}" dt="2025-11-29T20:58:14.216" v="243" actId="20577"/>
        <pc:sldMkLst>
          <pc:docMk/>
          <pc:sldMk cId="2018702330" sldId="257"/>
        </pc:sldMkLst>
        <pc:spChg chg="mod">
          <ac:chgData name="Marco ATGG" userId="0dab998bfdd9aaf1" providerId="LiveId" clId="{ADFE3B65-EA15-4F96-B5C9-E12D043D8BD8}" dt="2025-11-29T04:23:06.634" v="61" actId="313"/>
          <ac:spMkLst>
            <pc:docMk/>
            <pc:sldMk cId="2018702330" sldId="257"/>
            <ac:spMk id="2" creationId="{FB75C516-0AF3-99CF-B387-3D74CC56BC4E}"/>
          </ac:spMkLst>
        </pc:spChg>
        <pc:spChg chg="add mod">
          <ac:chgData name="Marco ATGG" userId="0dab998bfdd9aaf1" providerId="LiveId" clId="{ADFE3B65-EA15-4F96-B5C9-E12D043D8BD8}" dt="2025-11-29T20:58:14.216" v="243" actId="20577"/>
          <ac:spMkLst>
            <pc:docMk/>
            <pc:sldMk cId="2018702330" sldId="257"/>
            <ac:spMk id="21" creationId="{6BC3AD1E-8385-4B0F-3B85-3F72A3643F85}"/>
          </ac:spMkLst>
        </pc:spChg>
        <pc:spChg chg="add del">
          <ac:chgData name="Marco ATGG" userId="0dab998bfdd9aaf1" providerId="LiveId" clId="{ADFE3B65-EA15-4F96-B5C9-E12D043D8BD8}" dt="2025-11-29T03:18:23.473" v="29" actId="26606"/>
          <ac:spMkLst>
            <pc:docMk/>
            <pc:sldMk cId="2018702330" sldId="257"/>
            <ac:spMk id="24" creationId="{19F9BF86-FE94-4517-B97D-026C7515E589}"/>
          </ac:spMkLst>
        </pc:spChg>
        <pc:spChg chg="add">
          <ac:chgData name="Marco ATGG" userId="0dab998bfdd9aaf1" providerId="LiveId" clId="{ADFE3B65-EA15-4F96-B5C9-E12D043D8BD8}" dt="2025-11-29T03:18:23.481" v="30" actId="26606"/>
          <ac:spMkLst>
            <pc:docMk/>
            <pc:sldMk cId="2018702330" sldId="257"/>
            <ac:spMk id="28" creationId="{744CAA32-F237-419C-A2DD-43C28D920D3C}"/>
          </ac:spMkLst>
        </pc:spChg>
        <pc:picChg chg="add mod">
          <ac:chgData name="Marco ATGG" userId="0dab998bfdd9aaf1" providerId="LiveId" clId="{ADFE3B65-EA15-4F96-B5C9-E12D043D8BD8}" dt="2025-11-29T03:10:04" v="0" actId="931"/>
          <ac:picMkLst>
            <pc:docMk/>
            <pc:sldMk cId="2018702330" sldId="257"/>
            <ac:picMk id="4" creationId="{53042C36-E790-5D87-FBC9-FBE2C681052C}"/>
          </ac:picMkLst>
        </pc:picChg>
        <pc:picChg chg="mod ord">
          <ac:chgData name="Marco ATGG" userId="0dab998bfdd9aaf1" providerId="LiveId" clId="{ADFE3B65-EA15-4F96-B5C9-E12D043D8BD8}" dt="2025-11-29T03:18:23.481" v="30" actId="26606"/>
          <ac:picMkLst>
            <pc:docMk/>
            <pc:sldMk cId="2018702330" sldId="257"/>
            <ac:picMk id="5" creationId="{18E90E7A-B416-3449-0AC1-92F8A7B9D9B8}"/>
          </ac:picMkLst>
        </pc:picChg>
        <pc:picChg chg="add mod ord">
          <ac:chgData name="Marco ATGG" userId="0dab998bfdd9aaf1" providerId="LiveId" clId="{ADFE3B65-EA15-4F96-B5C9-E12D043D8BD8}" dt="2025-11-29T03:18:23.481" v="30" actId="26606"/>
          <ac:picMkLst>
            <pc:docMk/>
            <pc:sldMk cId="2018702330" sldId="257"/>
            <ac:picMk id="7" creationId="{55966D53-97A9-4E21-83B9-0F7FAB0BE915}"/>
          </ac:picMkLst>
        </pc:picChg>
        <pc:picChg chg="add mod">
          <ac:chgData name="Marco ATGG" userId="0dab998bfdd9aaf1" providerId="LiveId" clId="{ADFE3B65-EA15-4F96-B5C9-E12D043D8BD8}" dt="2025-11-29T03:12:23.718" v="13" actId="931"/>
          <ac:picMkLst>
            <pc:docMk/>
            <pc:sldMk cId="2018702330" sldId="257"/>
            <ac:picMk id="9" creationId="{C4439873-66EF-E7AB-9919-ABF9253BC019}"/>
          </ac:picMkLst>
        </pc:picChg>
        <pc:picChg chg="add mod ord">
          <ac:chgData name="Marco ATGG" userId="0dab998bfdd9aaf1" providerId="LiveId" clId="{ADFE3B65-EA15-4F96-B5C9-E12D043D8BD8}" dt="2025-11-29T03:18:23.481" v="30" actId="26606"/>
          <ac:picMkLst>
            <pc:docMk/>
            <pc:sldMk cId="2018702330" sldId="257"/>
            <ac:picMk id="11" creationId="{AA6FC69B-7B58-E251-B2DB-E0CA91F1842A}"/>
          </ac:picMkLst>
        </pc:picChg>
        <pc:picChg chg="add mod ord">
          <ac:chgData name="Marco ATGG" userId="0dab998bfdd9aaf1" providerId="LiveId" clId="{ADFE3B65-EA15-4F96-B5C9-E12D043D8BD8}" dt="2025-11-29T04:22:49.780" v="35" actId="14100"/>
          <ac:picMkLst>
            <pc:docMk/>
            <pc:sldMk cId="2018702330" sldId="257"/>
            <ac:picMk id="13" creationId="{F21EC157-A3D9-95CC-E54E-72B91EE8CA43}"/>
          </ac:picMkLst>
        </pc:picChg>
        <pc:picChg chg="add mod ord">
          <ac:chgData name="Marco ATGG" userId="0dab998bfdd9aaf1" providerId="LiveId" clId="{ADFE3B65-EA15-4F96-B5C9-E12D043D8BD8}" dt="2025-11-29T03:18:23.481" v="30" actId="26606"/>
          <ac:picMkLst>
            <pc:docMk/>
            <pc:sldMk cId="2018702330" sldId="257"/>
            <ac:picMk id="15" creationId="{62B849DB-8F5D-585F-4A2F-A5EDD92B2D06}"/>
          </ac:picMkLst>
        </pc:picChg>
        <pc:picChg chg="add mod ord">
          <ac:chgData name="Marco ATGG" userId="0dab998bfdd9aaf1" providerId="LiveId" clId="{ADFE3B65-EA15-4F96-B5C9-E12D043D8BD8}" dt="2025-11-29T03:18:23.481" v="30" actId="26606"/>
          <ac:picMkLst>
            <pc:docMk/>
            <pc:sldMk cId="2018702330" sldId="257"/>
            <ac:picMk id="17" creationId="{B8D30549-8E75-2007-3437-3C8A5486D04F}"/>
          </ac:picMkLst>
        </pc:picChg>
        <pc:cxnChg chg="add del">
          <ac:chgData name="Marco ATGG" userId="0dab998bfdd9aaf1" providerId="LiveId" clId="{ADFE3B65-EA15-4F96-B5C9-E12D043D8BD8}" dt="2025-11-29T03:18:23.473" v="29" actId="26606"/>
          <ac:cxnSpMkLst>
            <pc:docMk/>
            <pc:sldMk cId="2018702330" sldId="257"/>
            <ac:cxnSpMk id="22" creationId="{118E06E4-607B-144B-382B-AD3D06B1EE8C}"/>
          </ac:cxnSpMkLst>
        </pc:cxnChg>
        <pc:cxnChg chg="add del">
          <ac:chgData name="Marco ATGG" userId="0dab998bfdd9aaf1" providerId="LiveId" clId="{ADFE3B65-EA15-4F96-B5C9-E12D043D8BD8}" dt="2025-11-29T03:18:23.473" v="29" actId="26606"/>
          <ac:cxnSpMkLst>
            <pc:docMk/>
            <pc:sldMk cId="2018702330" sldId="257"/>
            <ac:cxnSpMk id="26" creationId="{926090AB-1BA6-EA11-E390-598B3C5182A1}"/>
          </ac:cxnSpMkLst>
        </pc:cxnChg>
        <pc:cxnChg chg="add">
          <ac:chgData name="Marco ATGG" userId="0dab998bfdd9aaf1" providerId="LiveId" clId="{ADFE3B65-EA15-4F96-B5C9-E12D043D8BD8}" dt="2025-11-29T03:18:23.481" v="30" actId="26606"/>
          <ac:cxnSpMkLst>
            <pc:docMk/>
            <pc:sldMk cId="2018702330" sldId="257"/>
            <ac:cxnSpMk id="29" creationId="{E16CB74F-F3CC-4B0B-B50E-878BEDB2CF13}"/>
          </ac:cxnSpMkLst>
        </pc:cxnChg>
      </pc:sldChg>
    </pc:docChg>
  </pc:docChgLst>
</pc:chgInfo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345610A-17B4-4656-93CF-E1D9982860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1371599"/>
            <a:ext cx="6675120" cy="2951825"/>
          </a:xfrm>
        </p:spPr>
        <p:txBody>
          <a:bodyPr anchor="t">
            <a:normAutofit/>
          </a:bodyPr>
          <a:lstStyle>
            <a:lvl1pPr algn="l"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451C80B-DFD6-415B-BA5B-E56E510CD12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4584879"/>
            <a:ext cx="6675120" cy="1287887"/>
          </a:xfrm>
        </p:spPr>
        <p:txBody>
          <a:bodyPr anchor="b">
            <a:normAutofit/>
          </a:bodyPr>
          <a:lstStyle>
            <a:lvl1pPr marL="0" indent="0" algn="l">
              <a:lnSpc>
                <a:spcPct val="130000"/>
              </a:lnSpc>
              <a:buNone/>
              <a:defRPr sz="1800" b="1" cap="all" spc="300" baseline="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7A2065B-06FF-4991-9F8A-4BE25457B47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444479B-705B-4489-957E-7E8A228BDFA0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20DF2FA-C604-45D8-A633-11D3742EC14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2EE5DA9-2D04-4850-AB9F-BD3538165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93211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E08B246-6A68-46BE-9DBD-614FA8CF4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03E47706-8D18-4093-A7C1-F30D7543CED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C7C8FC-AAEA-4AB6-9DB5-2503F58F0E6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89F774-3FA6-43B8-9241-99959C8FD463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8B1616B-3F08-4869-A522-773C38940F6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E030CE6-9124-4B3A-A912-AE16B5C3400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9709663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71BB59B6-79B9-97F5-AC3B-DF65899D39D8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>
            <a:extLst>
              <a:ext uri="{FF2B5EF4-FFF2-40B4-BE49-F238E27FC236}">
                <a16:creationId xmlns:a16="http://schemas.microsoft.com/office/drawing/2014/main" id="{16C78885-57B2-4930-BD7D-CBF916EDF1C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291366"/>
            <a:ext cx="9214884" cy="3159974"/>
          </a:xfrm>
        </p:spPr>
        <p:txBody>
          <a:bodyPr anchor="b">
            <a:normAutofit/>
          </a:bodyPr>
          <a:lstStyle>
            <a:lvl1pPr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BE495E4-2F8B-4CC7-88AC-A312067E60D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5018567"/>
            <a:ext cx="7907079" cy="1073889"/>
          </a:xfrm>
        </p:spPr>
        <p:txBody>
          <a:bodyPr>
            <a:normAutofit/>
          </a:bodyPr>
          <a:lstStyle>
            <a:lvl1pPr marL="0" indent="0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8585CC9-BAD3-4807-90BB-97DA2D6A6B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9504452-5DCC-4FE2-A5C9-8A5EF6714D65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F108CEF-165F-4D7E-9666-5CD0156B49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E0EBC3D-3277-4D34-9F67-71040C21E3B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FF05EAE5-4812-F718-6D75-9627884180B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6281" y="4715234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35172498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DB477A4-4D01-45B6-9563-0BF13BA72F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EE17E00-96AC-45F0-82B2-9F601E9B93C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640080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2BA30CD-95C0-427B-A571-A7D8A53278F4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318928" y="2633472"/>
            <a:ext cx="5212080" cy="3566160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6F67CAC-53E4-44AF-BEAC-8FFB96F05A8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579ABC2-0180-4F3A-A895-A85BC724D472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83D9F3A-E7F0-45E7-AFA8-0D4A669EC16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3C5F008B-58BB-45FF-923F-5909DAB49D3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10356906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A97B549-9E51-42E0-992A-73E77595777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599"/>
            <a:ext cx="10890929" cy="939753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C81A5FDC-7C4B-45FB-8462-E2CE79919F3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79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CBD8B686-2E92-45B9-A3D7-9DCAA0C50B3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40079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86ADB526-4A44-47B6-8D14-93202E590AA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318928" y="2311352"/>
            <a:ext cx="5212080" cy="695373"/>
          </a:xfrm>
        </p:spPr>
        <p:txBody>
          <a:bodyPr anchor="b">
            <a:normAutofit/>
          </a:bodyPr>
          <a:lstStyle>
            <a:lvl1pPr marL="0" indent="0">
              <a:buNone/>
              <a:defRPr sz="1800" b="1" cap="all" spc="300" baseline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74177CA-5C13-4311-BFD3-B98FBD942DA5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318928" y="3006725"/>
            <a:ext cx="5212080" cy="3191256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4DEA255A-4CB5-40CA-B756-1AA5E27C20B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AEEA9BA-4E8F-439E-BEA4-91FBA01E3F5F}" type="datetime1">
              <a:rPr lang="en-US" smtClean="0"/>
              <a:t>11/29/2025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F3072C4-10F1-49B8-B0BF-69204EDDCFA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4A5ACC97-44C1-4887-909B-E6732D3C1FF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65297095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27D313-943A-47E0-8A7A-DFFBCC297AB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23AC25A7-81C8-4AA1-AD9F-C78A451FDE2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E15BF18-0007-481C-AA29-413124BC3EE7}" type="datetime1">
              <a:rPr lang="en-US" smtClean="0"/>
              <a:t>11/29/2025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6EF54740-6022-46B2-9C55-B60E9651684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089497C9-6B5E-46D6-8FE9-0A5E0CF7F95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7851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5" name="Rectangle 4">
            <a:extLst>
              <a:ext uri="{FF2B5EF4-FFF2-40B4-BE49-F238E27FC236}">
                <a16:creationId xmlns:a16="http://schemas.microsoft.com/office/drawing/2014/main" id="{149F9F0F-FB8C-5565-247C-BDCC156B5CAF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2740D3C-270A-401A-810C-2F86BBBB87D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9BE9870-3748-43AD-B547-02A075CB4A1D}" type="datetime1">
              <a:rPr lang="en-US" smtClean="0"/>
              <a:t>11/29/2025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DDCBE9F8-1765-4F36-A4DE-1DB136025AC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790CF9E-A6C6-4873-ADBE-7A2939319E5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24783339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F08CDF8-00AD-4441-A6D5-9D7A659EB6C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28C330AF-CB7E-420A-AE8A-E02E903258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4936519" y="1031001"/>
            <a:ext cx="6594490" cy="5166360"/>
          </a:xfrm>
        </p:spPr>
        <p:txBody>
          <a:bodyPr>
            <a:normAutofit/>
          </a:bodyPr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43257AD-2422-4CDA-9C55-700F4B5BF25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8"/>
            <a:ext cx="3859397" cy="3226826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51B7454-C1CC-46F2-A6FB-1FE786C48F4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8E7897-33C5-4F1A-9307-D068E37F3DC7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9077DBE-6CC7-421B-AB5E-341E20BD922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6EAB8F-7526-4CDB-B782-FAD8B3E70B0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93944246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231647F-5A61-44C9-81DC-331C9AE5DDA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80" y="1371600"/>
            <a:ext cx="3859397" cy="1451723"/>
          </a:xfrm>
        </p:spPr>
        <p:txBody>
          <a:bodyPr anchor="t">
            <a:normAutofit/>
          </a:bodyPr>
          <a:lstStyle>
            <a:lvl1pPr>
              <a:defRPr sz="3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31627A0F-F1B8-49BE-A0FF-7FE16E3BDCC1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4937760" y="1033271"/>
            <a:ext cx="6592824" cy="516636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C86D1BD6-1519-4431-9FAF-7D4F4129972C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640080" y="2972167"/>
            <a:ext cx="3859397" cy="3226825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25A587A0-353B-42C2-BA96-B1ADEDF642B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2E171BA-CC09-47C8-A6DF-F5C5CB59CEEC}" type="datetime1">
              <a:rPr lang="en-US" smtClean="0"/>
              <a:t>11/29/2025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44D5A88E-3957-4B76-B1BE-4164029217B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A5F7C5FD-E56A-4C66-8F23-087F95A2FD0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2324061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95E4BB7-3F30-4C31-9BB2-8EC24FC0A1D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1ECF4134-70F5-4EE6-88BE-49D129630CDF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19EABC7-C044-44DE-B303-55A0581DA1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C07B66AD-7C08-490A-ADA4-B47E10FB2407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D4A63E1-5BC5-402E-9916-BAB84BCF0BB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A2EF915-AF64-4ECC-8B1A-B7E6A89B791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95194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" name="Rectangle 9">
            <a:extLst>
              <a:ext uri="{FF2B5EF4-FFF2-40B4-BE49-F238E27FC236}">
                <a16:creationId xmlns:a16="http://schemas.microsoft.com/office/drawing/2014/main" id="{31CB3635-47E1-90D8-B693-DA85A66B38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Vertical Title 1">
            <a:extLst>
              <a:ext uri="{FF2B5EF4-FFF2-40B4-BE49-F238E27FC236}">
                <a16:creationId xmlns:a16="http://schemas.microsoft.com/office/drawing/2014/main" id="{6EB09414-2AA1-4D8E-A00A-C092FBC92D91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9209219" y="640079"/>
            <a:ext cx="1811773" cy="5536884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42C3A78-37C5-46D0-9DF4-CB78AF883C2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640080" y="640080"/>
            <a:ext cx="8412422" cy="553688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8705E-925D-4F57-8268-107CE3CF4C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5B95027-4255-49E7-9841-CD21BCC99996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E207E-070D-4EC8-A44C-21F1815FDAA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715D01D1-C266-4161-A820-C084B98013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7" name="Straight Connector 6">
            <a:extLst>
              <a:ext uri="{FF2B5EF4-FFF2-40B4-BE49-F238E27FC236}">
                <a16:creationId xmlns:a16="http://schemas.microsoft.com/office/drawing/2014/main" id="{3230604F-219C-2DEE-830E-27274CC2FE1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 rot="5400000">
            <a:off x="10872154" y="1192438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95657492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1AB4E786-7636-4278-8595-D365D28A79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40079" y="1371601"/>
            <a:ext cx="10890929" cy="109728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A740849-7059-4C70-992B-5304D2EE9BA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640080" y="2633472"/>
            <a:ext cx="10890928" cy="35661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09FEBF6-CEA6-4332-87B3-697807571C8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64008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DA38F49-B3E2-4BF0-BEC7-C30D34ABBB8D}" type="datetime1">
              <a:rPr lang="en-US" smtClean="0"/>
              <a:t>11/29/2025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C6BAF94-621C-43E1-BA0C-410A6899031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6767622" y="6356350"/>
            <a:ext cx="4040373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37D19E5-9E16-48C9-AAE2-0C70679A8D7B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10807995" y="6356350"/>
            <a:ext cx="723014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 b="1" cap="all" spc="300" baseline="0">
                <a:solidFill>
                  <a:schemeClr val="tx1"/>
                </a:solidFill>
              </a:defRPr>
            </a:lvl1pPr>
          </a:lstStyle>
          <a:p>
            <a:fld id="{70C12960-6E85-460F-B6E3-5B82CB31AF3D}" type="slidenum">
              <a:rPr lang="en-US" smtClean="0"/>
              <a:t>‹Nº›</a:t>
            </a:fld>
            <a:endParaRPr lang="en-US"/>
          </a:p>
        </p:txBody>
      </p:sp>
      <p:cxnSp>
        <p:nvCxnSpPr>
          <p:cNvPr id="9" name="Straight Connector 8">
            <a:extLst>
              <a:ext uri="{FF2B5EF4-FFF2-40B4-BE49-F238E27FC236}">
                <a16:creationId xmlns:a16="http://schemas.microsoft.com/office/drawing/2014/main" id="{118E06E4-607B-144B-382B-AD3D06B1EE8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/>
          </p:cNvCxnSpPr>
          <p:nvPr/>
        </p:nvCxnSpPr>
        <p:spPr>
          <a:xfrm>
            <a:off x="71323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86644046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83" r:id="rId1"/>
    <p:sldLayoutId id="2147483784" r:id="rId2"/>
    <p:sldLayoutId id="2147483785" r:id="rId3"/>
    <p:sldLayoutId id="2147483786" r:id="rId4"/>
    <p:sldLayoutId id="2147483787" r:id="rId5"/>
    <p:sldLayoutId id="2147483781" r:id="rId6"/>
    <p:sldLayoutId id="2147483777" r:id="rId7"/>
    <p:sldLayoutId id="2147483778" r:id="rId8"/>
    <p:sldLayoutId id="2147483779" r:id="rId9"/>
    <p:sldLayoutId id="2147483780" r:id="rId10"/>
    <p:sldLayoutId id="2147483782" r:id="rId11"/>
  </p:sldLayoutIdLst>
  <p:hf sldNum="0" hdr="0" ftr="0" dt="0"/>
  <p:txStyles>
    <p:titleStyle>
      <a:lvl1pPr algn="l" defTabSz="914400" rtl="0" eaLnBrk="1" latinLnBrk="0" hangingPunct="1">
        <a:lnSpc>
          <a:spcPct val="100000"/>
        </a:lnSpc>
        <a:spcBef>
          <a:spcPct val="0"/>
        </a:spcBef>
        <a:buNone/>
        <a:defRPr sz="4000" b="1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120000"/>
        </a:lnSpc>
        <a:spcBef>
          <a:spcPts val="1000"/>
        </a:spcBef>
        <a:buSzPct val="87000"/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1pPr>
      <a:lvl2pPr marL="493776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731520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6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28575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4pPr>
      <a:lvl5pPr marL="1298448" indent="-228600" algn="l" defTabSz="914400" rtl="0" eaLnBrk="1" latinLnBrk="0" hangingPunct="1">
        <a:lnSpc>
          <a:spcPct val="120000"/>
        </a:lnSpc>
        <a:spcBef>
          <a:spcPts val="500"/>
        </a:spcBef>
        <a:buSzPct val="87000"/>
        <a:buFont typeface="Arial" panose="020B0604020202020204" pitchFamily="34" charset="0"/>
        <a:buChar char="•"/>
        <a:defRPr sz="14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8.png"/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7.png"/><Relationship Id="rId5" Type="http://schemas.openxmlformats.org/officeDocument/2006/relationships/image" Target="../media/image6.png"/><Relationship Id="rId4" Type="http://schemas.openxmlformats.org/officeDocument/2006/relationships/image" Target="../media/image5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031" name="Rectangle 1030">
            <a:extLst>
              <a:ext uri="{FF2B5EF4-FFF2-40B4-BE49-F238E27FC236}">
                <a16:creationId xmlns:a16="http://schemas.microsoft.com/office/drawing/2014/main" id="{19F9BF86-FE94-4517-B97D-026C7515E58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1026" name="Picture 2" descr="Seguro de auto ¿cómo contratarlo? - Alianza Automotriz">
            <a:extLst>
              <a:ext uri="{FF2B5EF4-FFF2-40B4-BE49-F238E27FC236}">
                <a16:creationId xmlns:a16="http://schemas.microsoft.com/office/drawing/2014/main" id="{FD911C66-68F3-5699-E7F4-BF1E440B3D8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7944" r="4114" b="-1"/>
          <a:stretch>
            <a:fillRect/>
          </a:stretch>
        </p:blipFill>
        <p:spPr bwMode="auto">
          <a:xfrm>
            <a:off x="20" y="10"/>
            <a:ext cx="7803224" cy="685798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033" name="Rectangle 1032">
            <a:extLst>
              <a:ext uri="{FF2B5EF4-FFF2-40B4-BE49-F238E27FC236}">
                <a16:creationId xmlns:a16="http://schemas.microsoft.com/office/drawing/2014/main" id="{F8B2ECD5-47B1-47AD-AC9D-045064631A6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" y="0"/>
            <a:ext cx="6896636" cy="6858000"/>
          </a:xfrm>
          <a:prstGeom prst="rect">
            <a:avLst/>
          </a:prstGeom>
          <a:gradFill flip="none" rotWithShape="1">
            <a:gsLst>
              <a:gs pos="0">
                <a:srgbClr val="000000">
                  <a:alpha val="0"/>
                </a:srgbClr>
              </a:gs>
              <a:gs pos="58000">
                <a:srgbClr val="000000">
                  <a:alpha val="55000"/>
                </a:srgbClr>
              </a:gs>
              <a:gs pos="93000">
                <a:srgbClr val="000000">
                  <a:alpha val="64000"/>
                </a:srgbClr>
              </a:gs>
            </a:gsLst>
            <a:lin ang="10800000" scaled="1"/>
            <a:tileRect/>
          </a:gra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>
            <a:defPPr>
              <a:defRPr lang="en-US"/>
            </a:defPPr>
            <a:lvl1pPr marL="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lt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E9B47DAA-1DDC-7997-A8F7-08653107BEF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640080" y="914400"/>
            <a:ext cx="4659086" cy="3427867"/>
          </a:xfrm>
        </p:spPr>
        <p:txBody>
          <a:bodyPr anchor="t">
            <a:normAutofit/>
          </a:bodyPr>
          <a:lstStyle/>
          <a:p>
            <a:pPr>
              <a:lnSpc>
                <a:spcPct val="90000"/>
              </a:lnSpc>
            </a:pPr>
            <a:r>
              <a:rPr lang="es-MX" sz="5600">
                <a:solidFill>
                  <a:srgbClr val="FFFFFF"/>
                </a:solidFill>
              </a:rPr>
              <a:t>Análisis sobre el fraude de seguros de autos</a:t>
            </a:r>
          </a:p>
        </p:txBody>
      </p:sp>
      <p:sp>
        <p:nvSpPr>
          <p:cNvPr id="3" name="Subtítulo 2">
            <a:extLst>
              <a:ext uri="{FF2B5EF4-FFF2-40B4-BE49-F238E27FC236}">
                <a16:creationId xmlns:a16="http://schemas.microsoft.com/office/drawing/2014/main" id="{E20A3634-2558-6B5C-8736-BECA392F4ED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40080" y="5253051"/>
            <a:ext cx="4589685" cy="812923"/>
          </a:xfrm>
        </p:spPr>
        <p:txBody>
          <a:bodyPr anchor="t">
            <a:normAutofit/>
          </a:bodyPr>
          <a:lstStyle/>
          <a:p>
            <a:pPr>
              <a:lnSpc>
                <a:spcPct val="120000"/>
              </a:lnSpc>
            </a:pPr>
            <a:r>
              <a:rPr lang="es-MX" sz="1500">
                <a:solidFill>
                  <a:srgbClr val="FFFFFF"/>
                </a:solidFill>
              </a:rPr>
              <a:t>¿Por qué es importante saber sobre los seguros de auto?</a:t>
            </a:r>
          </a:p>
        </p:txBody>
      </p:sp>
      <p:cxnSp>
        <p:nvCxnSpPr>
          <p:cNvPr id="1035" name="Straight Connector 1034">
            <a:extLst>
              <a:ext uri="{FF2B5EF4-FFF2-40B4-BE49-F238E27FC236}">
                <a16:creationId xmlns:a16="http://schemas.microsoft.com/office/drawing/2014/main" id="{97CC2FE6-3AD0-4131-B4BC-1F4D65E25E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3232" y="4861206"/>
            <a:ext cx="978862" cy="0"/>
          </a:xfrm>
          <a:prstGeom prst="line">
            <a:avLst/>
          </a:prstGeom>
          <a:ln w="76200">
            <a:solidFill>
              <a:schemeClr val="accent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4" name="Picture 3" descr="Fondo con red tecnológica">
            <a:extLst>
              <a:ext uri="{FF2B5EF4-FFF2-40B4-BE49-F238E27FC236}">
                <a16:creationId xmlns:a16="http://schemas.microsoft.com/office/drawing/2014/main" id="{A9BDC057-DE15-8E2A-459F-DC8F81356B8E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26816" r="35906" b="-2"/>
          <a:stretch>
            <a:fillRect/>
          </a:stretch>
        </p:blipFill>
        <p:spPr>
          <a:xfrm>
            <a:off x="7803244" y="-1"/>
            <a:ext cx="4388756" cy="685799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80504454"/>
      </p:ext>
    </p:extLst>
  </p:cSld>
  <p:clrMapOvr>
    <a:overrideClrMapping bg1="dk1" tx1="lt1" bg2="dk2" tx2="lt2" accent1="accent1" accent2="accent2" accent3="accent3" accent4="accent4" accent5="accent5" accent6="accent6" hlink="hlink" folHlink="folHlink"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withEffect">
                                  <p:stCondLst>
                                    <p:cond delay="100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4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8" name="Rectangle 23">
            <a:extLst>
              <a:ext uri="{FF2B5EF4-FFF2-40B4-BE49-F238E27FC236}">
                <a16:creationId xmlns:a16="http://schemas.microsoft.com/office/drawing/2014/main" id="{744CAA32-F237-419C-A2DD-43C28D920D3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12192000" cy="6858000"/>
          </a:xfrm>
          <a:prstGeom prst="rect">
            <a:avLst/>
          </a:prstGeom>
          <a:ln w="12700" cap="flat" cmpd="sng" algn="ctr">
            <a:noFill/>
            <a:prstDash val="solid"/>
            <a:miter lim="800000"/>
          </a:ln>
          <a:effectLst/>
          <a:extLst>
            <a:ext uri="{91240B29-F687-4F45-9708-019B960494DF}">
              <a14:hiddenLine xmlns:a14="http://schemas.microsoft.com/office/drawing/2010/main" w="12700" cap="flat" cmpd="sng" algn="ctr">
                <a:solidFill>
                  <a:schemeClr val="accent1">
                    <a:shade val="50000"/>
                  </a:schemeClr>
                </a:solidFill>
                <a:prstDash val="solid"/>
                <a:miter lim="800000"/>
              </a14:hiddenLine>
            </a:ext>
          </a:ex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ítulo 1">
            <a:extLst>
              <a:ext uri="{FF2B5EF4-FFF2-40B4-BE49-F238E27FC236}">
                <a16:creationId xmlns:a16="http://schemas.microsoft.com/office/drawing/2014/main" id="{FB75C516-0AF3-99CF-B387-3D74CC56BC4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82478" y="112241"/>
            <a:ext cx="4580470" cy="1314443"/>
          </a:xfrm>
        </p:spPr>
        <p:txBody>
          <a:bodyPr>
            <a:normAutofit/>
          </a:bodyPr>
          <a:lstStyle/>
          <a:p>
            <a:r>
              <a:rPr lang="es-MX" sz="3600" dirty="0"/>
              <a:t>Demostración de graficas </a:t>
            </a:r>
          </a:p>
        </p:txBody>
      </p:sp>
      <p:sp>
        <p:nvSpPr>
          <p:cNvPr id="21" name="Content Placeholder 20">
            <a:extLst>
              <a:ext uri="{FF2B5EF4-FFF2-40B4-BE49-F238E27FC236}">
                <a16:creationId xmlns:a16="http://schemas.microsoft.com/office/drawing/2014/main" id="{6BC3AD1E-8385-4B0F-3B85-3F72A3643F85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716282" y="1558659"/>
            <a:ext cx="4580469" cy="3444548"/>
          </a:xfrm>
        </p:spPr>
        <p:txBody>
          <a:bodyPr>
            <a:normAutofit fontScale="32500" lnSpcReduction="20000"/>
          </a:bodyPr>
          <a:lstStyle/>
          <a:p>
            <a:r>
              <a:rPr lang="es-ES" dirty="0"/>
              <a:t>El </a:t>
            </a:r>
            <a:r>
              <a:rPr lang="es-ES" b="1" dirty="0"/>
              <a:t>Análisis Exploratorio de Datos (EDA)</a:t>
            </a:r>
            <a:r>
              <a:rPr lang="es-ES" dirty="0"/>
              <a:t> comenzó con la </a:t>
            </a:r>
            <a:r>
              <a:rPr lang="es-ES" b="1" dirty="0"/>
              <a:t>Distribución de Fraudes</a:t>
            </a:r>
            <a:r>
              <a:rPr lang="es-ES" dirty="0"/>
              <a:t> , la cual confirmó un desafío crítico: el </a:t>
            </a:r>
            <a:r>
              <a:rPr lang="es-ES" b="1" dirty="0"/>
              <a:t>severo desbalance de clases</a:t>
            </a:r>
            <a:r>
              <a:rPr lang="es-ES" dirty="0"/>
              <a:t>, con una clara minoría de casos fraudulentos.</a:t>
            </a:r>
          </a:p>
          <a:p>
            <a:r>
              <a:rPr lang="es-ES" dirty="0"/>
              <a:t>Para asegurar la calidad de la información, se utilizó el </a:t>
            </a:r>
            <a:r>
              <a:rPr lang="es-ES" b="1" dirty="0"/>
              <a:t>Rango Intercuartílico (IQR)</a:t>
            </a:r>
            <a:r>
              <a:rPr lang="es-ES" dirty="0"/>
              <a:t> . Esta técnica permitió identificar y tratar los </a:t>
            </a:r>
            <a:r>
              <a:rPr lang="es-ES" b="1" dirty="0"/>
              <a:t>valores atípicos</a:t>
            </a:r>
            <a:r>
              <a:rPr lang="es-ES" dirty="0"/>
              <a:t> (</a:t>
            </a:r>
            <a:r>
              <a:rPr lang="es-ES" dirty="0" err="1"/>
              <a:t>outliers</a:t>
            </a:r>
            <a:r>
              <a:rPr lang="es-ES" dirty="0"/>
              <a:t>) en variables numéricas clave, garantizando la robustez del entrenamiento del modelo. Finalmente, la </a:t>
            </a:r>
            <a:r>
              <a:rPr lang="es-ES" b="1" dirty="0"/>
              <a:t>Tabla de Calor</a:t>
            </a:r>
            <a:r>
              <a:rPr lang="es-ES" dirty="0"/>
              <a:t> (Matriz de Correlación) validó que las variables seleccionadas no presentaban redundancia, aportando información única.</a:t>
            </a:r>
          </a:p>
          <a:p>
            <a:r>
              <a:rPr lang="es-ES" b="1" dirty="0"/>
              <a:t>2. Rendimiento y Conclusiones del Modelo</a:t>
            </a:r>
          </a:p>
          <a:p>
            <a:r>
              <a:rPr lang="es-ES" dirty="0"/>
              <a:t>El modelo entrenado demostró un alto potencial predictivo, brindando la siguiente inteligencia accionable:</a:t>
            </a:r>
          </a:p>
          <a:p>
            <a:r>
              <a:rPr lang="es-ES" b="1" dirty="0"/>
              <a:t>A. Identificación de Riesgo (Inteligencia de Negocio)</a:t>
            </a:r>
          </a:p>
          <a:p>
            <a:r>
              <a:rPr lang="es-ES" dirty="0"/>
              <a:t>El análisis de </a:t>
            </a:r>
            <a:r>
              <a:rPr lang="es-ES" b="1" dirty="0"/>
              <a:t>Top 10 Variables Más Importantes</a:t>
            </a:r>
            <a:r>
              <a:rPr lang="es-ES" dirty="0"/>
              <a:t> reveló que los factores más críticos para la predicción de fraude son </a:t>
            </a:r>
            <a:r>
              <a:rPr lang="es-ES" b="1" dirty="0"/>
              <a:t>[Numero de póliza, Edad, </a:t>
            </a:r>
            <a:r>
              <a:rPr lang="es-ES" b="1" dirty="0" err="1"/>
              <a:t>NumeroRepresentante</a:t>
            </a:r>
            <a:r>
              <a:rPr lang="es-ES" b="1" dirty="0"/>
              <a:t>]</a:t>
            </a:r>
            <a:r>
              <a:rPr lang="es-ES" dirty="0"/>
              <a:t>. Estos </a:t>
            </a:r>
            <a:r>
              <a:rPr lang="es-ES" i="1" dirty="0" err="1"/>
              <a:t>insights</a:t>
            </a:r>
            <a:r>
              <a:rPr lang="es-ES" dirty="0"/>
              <a:t> son invaluables para enfocar la investigación humana en los casos que presentan esta combinación de características de alto riesgo.</a:t>
            </a:r>
          </a:p>
          <a:p>
            <a:r>
              <a:rPr lang="es-ES" b="1" dirty="0"/>
              <a:t>B. Efectividad de la Predicción</a:t>
            </a:r>
          </a:p>
          <a:p>
            <a:r>
              <a:rPr lang="es-ES" dirty="0"/>
              <a:t>La </a:t>
            </a:r>
            <a:r>
              <a:rPr lang="es-ES" b="1" dirty="0"/>
              <a:t>Matriz de Confusión</a:t>
            </a:r>
            <a:r>
              <a:rPr lang="es-ES" dirty="0"/>
              <a:t> es la prueba de la efectividad del sistema. El modelo logra un </a:t>
            </a:r>
            <a:r>
              <a:rPr lang="es-ES" b="1" dirty="0" err="1"/>
              <a:t>Recall</a:t>
            </a:r>
            <a:r>
              <a:rPr lang="es-ES" b="1" dirty="0"/>
              <a:t> ()</a:t>
            </a:r>
            <a:r>
              <a:rPr lang="es-ES" dirty="0"/>
              <a:t> del </a:t>
            </a:r>
            <a:r>
              <a:rPr lang="es-ES" b="1" dirty="0"/>
              <a:t>[0.91]</a:t>
            </a:r>
            <a:r>
              <a:rPr lang="es-ES" dirty="0"/>
              <a:t>% en la detección de fraudes.</a:t>
            </a:r>
          </a:p>
          <a:p>
            <a:r>
              <a:rPr lang="es-ES" b="1" dirty="0"/>
              <a:t>Conclusión Final:</a:t>
            </a:r>
            <a:r>
              <a:rPr lang="es-ES" dirty="0"/>
              <a:t> El sistema de Machine </a:t>
            </a:r>
            <a:r>
              <a:rPr lang="es-ES" dirty="0" err="1"/>
              <a:t>Learning</a:t>
            </a:r>
            <a:r>
              <a:rPr lang="es-ES" dirty="0"/>
              <a:t> permite a la compañía </a:t>
            </a:r>
            <a:r>
              <a:rPr lang="es-ES" b="1" dirty="0"/>
              <a:t>detectar </a:t>
            </a:r>
            <a:r>
              <a:rPr lang="es-ES" b="1"/>
              <a:t>el [90%] </a:t>
            </a:r>
            <a:r>
              <a:rPr lang="es-ES" b="1" dirty="0"/>
              <a:t>de todos los fraudes reales</a:t>
            </a:r>
            <a:r>
              <a:rPr lang="es-ES" dirty="0"/>
              <a:t>. Esto transforma el proceso de auditoría de un enfoque reactivo a una </a:t>
            </a:r>
            <a:r>
              <a:rPr lang="es-ES" b="1" dirty="0"/>
              <a:t>estrategia proactiva basada en el riesgo</a:t>
            </a:r>
            <a:r>
              <a:rPr lang="es-ES" dirty="0"/>
              <a:t>, minimizando las pérdidas económicas y optimizando la eficiencia operativa del equipo de investigación.</a:t>
            </a:r>
          </a:p>
          <a:p>
            <a:endParaRPr lang="en-US" dirty="0"/>
          </a:p>
        </p:txBody>
      </p:sp>
      <p:pic>
        <p:nvPicPr>
          <p:cNvPr id="5" name="Marcador de contenido 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18E90E7A-B416-3449-0AC1-92F8A7B9D9B8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478" r="-3" b="-3"/>
          <a:stretch>
            <a:fillRect/>
          </a:stretch>
        </p:blipFill>
        <p:spPr>
          <a:xfrm>
            <a:off x="6345425" y="-2"/>
            <a:ext cx="2926080" cy="2286000"/>
          </a:xfrm>
          <a:prstGeom prst="rect">
            <a:avLst/>
          </a:prstGeom>
        </p:spPr>
      </p:pic>
      <p:pic>
        <p:nvPicPr>
          <p:cNvPr id="15" name="Imagen 14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62B849DB-8F5D-585F-4A2F-A5EDD92B2D06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855" r="22488" b="2"/>
          <a:stretch>
            <a:fillRect/>
          </a:stretch>
        </p:blipFill>
        <p:spPr>
          <a:xfrm>
            <a:off x="6345424" y="2283632"/>
            <a:ext cx="2932914" cy="2286000"/>
          </a:xfrm>
          <a:prstGeom prst="rect">
            <a:avLst/>
          </a:prstGeom>
        </p:spPr>
      </p:pic>
      <p:pic>
        <p:nvPicPr>
          <p:cNvPr id="13" name="Imagen 12" descr="Gráfico, Gráfico de cajas y bigotes&#10;&#10;El contenido generado por IA puede ser incorrecto.">
            <a:extLst>
              <a:ext uri="{FF2B5EF4-FFF2-40B4-BE49-F238E27FC236}">
                <a16:creationId xmlns:a16="http://schemas.microsoft.com/office/drawing/2014/main" id="{F21EC157-A3D9-95CC-E54E-72B91EE8CA43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38345" r="11122" b="1"/>
          <a:stretch>
            <a:fillRect/>
          </a:stretch>
        </p:blipFill>
        <p:spPr>
          <a:xfrm>
            <a:off x="5878286" y="4667264"/>
            <a:ext cx="3393218" cy="2190735"/>
          </a:xfrm>
          <a:prstGeom prst="rect">
            <a:avLst/>
          </a:prstGeom>
        </p:spPr>
      </p:pic>
      <p:pic>
        <p:nvPicPr>
          <p:cNvPr id="17" name="Imagen 16" descr="Gráfico, Gráfico de rectángulos&#10;&#10;El contenido generado por IA puede ser incorrecto.">
            <a:extLst>
              <a:ext uri="{FF2B5EF4-FFF2-40B4-BE49-F238E27FC236}">
                <a16:creationId xmlns:a16="http://schemas.microsoft.com/office/drawing/2014/main" id="{B8D30549-8E75-2007-3437-3C8A5486D04F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6239"/>
          <a:stretch>
            <a:fillRect/>
          </a:stretch>
        </p:blipFill>
        <p:spPr>
          <a:xfrm>
            <a:off x="9265920" y="10"/>
            <a:ext cx="2926080" cy="2285990"/>
          </a:xfrm>
          <a:prstGeom prst="rect">
            <a:avLst/>
          </a:prstGeom>
        </p:spPr>
      </p:pic>
      <p:pic>
        <p:nvPicPr>
          <p:cNvPr id="7" name="Imagen 6" descr="Gráfico, Gráfico de dispersión&#10;&#10;El contenido generado por IA puede ser incorrecto.">
            <a:extLst>
              <a:ext uri="{FF2B5EF4-FFF2-40B4-BE49-F238E27FC236}">
                <a16:creationId xmlns:a16="http://schemas.microsoft.com/office/drawing/2014/main" id="{55966D53-97A9-4E21-83B9-0F7FAB0BE91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t="9019" r="-3" b="8525"/>
          <a:stretch>
            <a:fillRect/>
          </a:stretch>
        </p:blipFill>
        <p:spPr>
          <a:xfrm>
            <a:off x="9271507" y="2284817"/>
            <a:ext cx="2926080" cy="2286000"/>
          </a:xfrm>
          <a:prstGeom prst="rect">
            <a:avLst/>
          </a:prstGeom>
        </p:spPr>
      </p:pic>
      <p:pic>
        <p:nvPicPr>
          <p:cNvPr id="11" name="Imagen 10" descr="Gráfico, Gráfico de barras&#10;&#10;El contenido generado por IA puede ser incorrecto.">
            <a:extLst>
              <a:ext uri="{FF2B5EF4-FFF2-40B4-BE49-F238E27FC236}">
                <a16:creationId xmlns:a16="http://schemas.microsoft.com/office/drawing/2014/main" id="{AA6FC69B-7B58-E251-B2DB-E0CA91F1842A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r="26760" b="3"/>
          <a:stretch>
            <a:fillRect/>
          </a:stretch>
        </p:blipFill>
        <p:spPr>
          <a:xfrm>
            <a:off x="9265920" y="4570818"/>
            <a:ext cx="2926080" cy="2287183"/>
          </a:xfrm>
          <a:prstGeom prst="rect">
            <a:avLst/>
          </a:prstGeom>
        </p:spPr>
      </p:pic>
      <p:cxnSp>
        <p:nvCxnSpPr>
          <p:cNvPr id="29" name="Straight Connector 25">
            <a:extLst>
              <a:ext uri="{FF2B5EF4-FFF2-40B4-BE49-F238E27FC236}">
                <a16:creationId xmlns:a16="http://schemas.microsoft.com/office/drawing/2014/main" id="{E16CB74F-F3CC-4B0B-B50E-878BEDB2CF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716282" y="1031001"/>
            <a:ext cx="978862" cy="0"/>
          </a:xfrm>
          <a:prstGeom prst="line">
            <a:avLst/>
          </a:prstGeom>
          <a:ln w="76200"/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2018702330"/>
      </p:ext>
    </p:extLst>
  </p:cSld>
  <p:clrMapOvr>
    <a:masterClrMapping/>
  </p:clrMapOvr>
</p:sld>
</file>

<file path=ppt/theme/theme1.xml><?xml version="1.0" encoding="utf-8"?>
<a:theme xmlns:a="http://schemas.openxmlformats.org/drawingml/2006/main" name="DashVTI">
  <a:themeElements>
    <a:clrScheme name="Custom 6">
      <a:dk1>
        <a:sysClr val="windowText" lastClr="000000"/>
      </a:dk1>
      <a:lt1>
        <a:sysClr val="window" lastClr="FFFFFF"/>
      </a:lt1>
      <a:dk2>
        <a:srgbClr val="0D1C3B"/>
      </a:dk2>
      <a:lt2>
        <a:srgbClr val="F5F2F9"/>
      </a:lt2>
      <a:accent1>
        <a:srgbClr val="1973EB"/>
      </a:accent1>
      <a:accent2>
        <a:srgbClr val="25C8A2"/>
      </a:accent2>
      <a:accent3>
        <a:srgbClr val="BF8ED1"/>
      </a:accent3>
      <a:accent4>
        <a:srgbClr val="FE733C"/>
      </a:accent4>
      <a:accent5>
        <a:srgbClr val="FE5A5A"/>
      </a:accent5>
      <a:accent6>
        <a:srgbClr val="1AC16E"/>
      </a:accent6>
      <a:hlink>
        <a:srgbClr val="1AC16E"/>
      </a:hlink>
      <a:folHlink>
        <a:srgbClr val="00B0F0"/>
      </a:folHlink>
    </a:clrScheme>
    <a:fontScheme name="grandview display">
      <a:majorFont>
        <a:latin typeface="Grandview Display"/>
        <a:ea typeface=""/>
        <a:cs typeface=""/>
      </a:majorFont>
      <a:minorFont>
        <a:latin typeface="Grandview Display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DashVTI" id="{0A75137F-CDEB-4E94-A788-9D255EBE1B91}" vid="{DE9A6A09-5855-45A3-8E99-4290ED24057C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398</TotalTime>
  <Words>299</Words>
  <Application>Microsoft Office PowerPoint</Application>
  <PresentationFormat>Panorámica</PresentationFormat>
  <Paragraphs>12</Paragraphs>
  <Slides>2</Slides>
  <Notes>0</Notes>
  <HiddenSlides>0</HiddenSlides>
  <MMClips>0</MMClips>
  <ScaleCrop>false</ScaleCrop>
  <HeadingPairs>
    <vt:vector size="6" baseType="variant">
      <vt:variant>
        <vt:lpstr>Fuentes usadas</vt:lpstr>
      </vt:variant>
      <vt:variant>
        <vt:i4>2</vt:i4>
      </vt:variant>
      <vt:variant>
        <vt:lpstr>Tema</vt:lpstr>
      </vt:variant>
      <vt:variant>
        <vt:i4>1</vt:i4>
      </vt:variant>
      <vt:variant>
        <vt:lpstr>Títulos de diapositiva</vt:lpstr>
      </vt:variant>
      <vt:variant>
        <vt:i4>2</vt:i4>
      </vt:variant>
    </vt:vector>
  </HeadingPairs>
  <TitlesOfParts>
    <vt:vector size="5" baseType="lpstr">
      <vt:lpstr>Arial</vt:lpstr>
      <vt:lpstr>Grandview Display</vt:lpstr>
      <vt:lpstr>DashVTI</vt:lpstr>
      <vt:lpstr>Análisis sobre el fraude de seguros de autos</vt:lpstr>
      <vt:lpstr>Demostración de graficas 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Marco ATGG</dc:creator>
  <cp:lastModifiedBy>Marco ATGG</cp:lastModifiedBy>
  <cp:revision>1</cp:revision>
  <dcterms:created xsi:type="dcterms:W3CDTF">2025-11-28T02:46:04Z</dcterms:created>
  <dcterms:modified xsi:type="dcterms:W3CDTF">2025-11-29T20:58:19Z</dcterms:modified>
</cp:coreProperties>
</file>